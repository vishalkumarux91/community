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COMPETITIVE STUDY 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C9A7"/>
                </a:solidFill>
                <a:latin typeface="Calibri"/>
              </a:defRPr>
            </a:pPr>
            <a:r>
              <a:t>STRATEGIC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AEC0"/>
                </a:solidFill>
                <a:latin typeface="Calibri"/>
              </a:defRPr>
            </a:pPr>
            <a:r>
              <a:t>Building India's Premier UI/UX Design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AEC0"/>
                </a:solidFill>
                <a:latin typeface="Calibri"/>
              </a:defRPr>
            </a:pPr>
            <a:r>
              <a:t>with Global Expansion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6080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RPS Design Community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080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080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Hybrid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India's Design Market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14600" cy="219456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5146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C9A7"/>
                </a:solidFill>
                <a:latin typeface="Calibri"/>
              </a:defRPr>
            </a:pPr>
            <a:r>
              <a:t>200K+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Calibri"/>
              </a:defRPr>
            </a:pPr>
            <a:r>
              <a:t>UI/UX Professionals</a:t>
            </a:r>
            <a:br/>
            <a:r>
              <a:t>in India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39" y="1828800"/>
            <a:ext cx="2514600" cy="219456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39" y="1828800"/>
            <a:ext cx="25146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10312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C9A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92608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Calibri"/>
              </a:defRPr>
            </a:pPr>
            <a:r>
              <a:t>Major Design</a:t>
            </a:r>
            <a:br/>
            <a:r>
              <a:t>Hub Cities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828800"/>
            <a:ext cx="2514600" cy="219456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828800"/>
            <a:ext cx="25146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C9A7"/>
                </a:solidFill>
                <a:latin typeface="Calibri"/>
              </a:defRPr>
            </a:pPr>
            <a:r>
              <a:t>25K+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2608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Calibri"/>
              </a:defRPr>
            </a:pPr>
            <a:r>
              <a:t>Friends of Figma</a:t>
            </a:r>
            <a:br/>
            <a:r>
              <a:t>Members in India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828800"/>
            <a:ext cx="2514600" cy="219456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828800"/>
            <a:ext cx="25146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59" y="210312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6B6B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92608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Calibri"/>
              </a:defRPr>
            </a:pPr>
            <a:r>
              <a:t>Unified National</a:t>
            </a:r>
            <a:br/>
            <a:r>
              <a:t>Design Community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480560"/>
            <a:ext cx="10698480" cy="128016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572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India has one of the world's fastest-growing design talent pools, yet lacks a single, dominant community platform that unites designers across cities, experience levels, and specializations. The first mover who builds this will capture a massive audience.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Design Communities in India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698480" cy="100584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4864" cy="10058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Friends of Figma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25K+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Tool-specific, Figma-backed chapters in 5+ cities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Gap: No year-round engagement, tool-locked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80360"/>
            <a:ext cx="10698480" cy="100584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880360"/>
            <a:ext cx="54864" cy="10058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UXINDIA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971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India's largest conference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83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3-day annual event in Hyderabad/Bangalore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718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Gap: Annual-only, no online community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10698480" cy="100584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54864" cy="100584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DesignUp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BF"/>
                </a:solidFill>
                <a:latin typeface="Calibri"/>
              </a:defRPr>
            </a:pPr>
            <a:r>
              <a:t>1,600+ attendees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526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Community-led design-in-tech conference, Bangalore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1148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Gap: City-centric, volunteer-dependent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166360"/>
            <a:ext cx="10698480" cy="100584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166360"/>
            <a:ext cx="54864" cy="10058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257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GSIUXD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257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17,000+ members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669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Largest Indian UX Slack community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2578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Gap: Online-only, no events, no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GLOBAL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World-Class Communities Look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0" cy="13258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4864" cy="13258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AIGA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9A7"/>
                </a:solidFill>
                <a:latin typeface="Calibri"/>
              </a:defRPr>
            </a:pPr>
            <a:r>
              <a:t>25K+ Members | 72 Chapters |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Paid membership, tiered model, 110+ year legacy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737360"/>
            <a:ext cx="5394960" cy="13258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737360"/>
            <a:ext cx="54864" cy="13258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  <a:latin typeface="Calibri"/>
              </a:defRPr>
            </a:pPr>
            <a:r>
              <a:t>KEY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Chapter model is gold standard for geographic scaling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91839"/>
            <a:ext cx="5029200" cy="13258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291839"/>
            <a:ext cx="54864" cy="13258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3832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IxDA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4903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9A7"/>
                </a:solidFill>
                <a:latin typeface="Calibri"/>
              </a:defRPr>
            </a:pPr>
            <a:r>
              <a:t>150K+ Members | 80+ Countries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148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Free membership, sponsorship-funded, self-organizing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291839"/>
            <a:ext cx="5394960" cy="13258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3291839"/>
            <a:ext cx="54864" cy="13258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42899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  <a:latin typeface="Calibri"/>
              </a:defRPr>
            </a:pPr>
            <a:r>
              <a:t>KEY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49039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Proves free entry builds massive reach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846320"/>
            <a:ext cx="5029200" cy="13258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846320"/>
            <a:ext cx="54864" cy="13258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9377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ADPList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303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9A7"/>
                </a:solidFill>
                <a:latin typeface="Calibri"/>
              </a:defRPr>
            </a:pPr>
            <a:r>
              <a:t>Global | Mentorship-First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6692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Career development, 1:1 mentorship, enterprise partners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4846320"/>
            <a:ext cx="5394960" cy="13258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4846320"/>
            <a:ext cx="54864" cy="13258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983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  <a:latin typeface="Calibri"/>
              </a:defRPr>
            </a:pPr>
            <a:r>
              <a:t>KEY 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30352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Mentorship and career outcomes drive retention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7 Critical Gaps in the Indian Design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303520" cy="77724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874519"/>
            <a:ext cx="457200" cy="4572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019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 Unified National Community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5303520" cy="77724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834640"/>
            <a:ext cx="457200" cy="4572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86207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Missing Hybrid (Online + Offline)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5303520" cy="77724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3794760"/>
            <a:ext cx="457200" cy="4572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822191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Career Development &amp; Mentorship Gap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617720"/>
            <a:ext cx="5303520" cy="77724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4754880"/>
            <a:ext cx="457200" cy="4572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78231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Tier-2 City Neglect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737360"/>
            <a:ext cx="5303520" cy="77724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0" y="1874519"/>
            <a:ext cx="457200" cy="4572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9019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Student-to-Professional Pipeline Missing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697480"/>
            <a:ext cx="5303520" cy="77724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0" y="2834640"/>
            <a:ext cx="457200" cy="4572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86207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 India-Specific Knowledge 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657600"/>
            <a:ext cx="5303520" cy="77724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83680" y="3794760"/>
            <a:ext cx="457200" cy="4572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822191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 Sustainable Revenue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6692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  <a:latin typeface="Calibri"/>
              </a:defRPr>
            </a:pPr>
            <a:r>
              <a:t>Addressable market: 50,000-100,000 active designers. At 5% paid conversion → INR 5-25 Crore annual revenue potential.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Hybrid Community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30352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Calibri"/>
              </a:defRPr>
            </a:pPr>
            <a:r>
              <a:t>ONLINE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231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→  Community forum &amp; member profiles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260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→  Weekly articles &amp; India-focused case studies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290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→  Structured 3-month mentorship cycles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→  Curated job board &amp; hiring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348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→  Learning paths &amp; video courses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9377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→  Monthly portfolio review sessions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645920"/>
            <a:ext cx="5303520" cy="457200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645920"/>
            <a:ext cx="530352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Calibri"/>
              </a:defRPr>
            </a:pPr>
            <a:r>
              <a:t>OFFLINE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4231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→  Monthly city meetups (50-150 ppl)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9260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→  Quarterly intensive workshops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4290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→  Annual national conference (1,000+)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9319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→  Design sprint weekends with real companies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4348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→  Campus connect sessions at colleges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9377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→  Design leader roundtables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Membership Tiers &amp; 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103120" cy="4389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0AEC0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alibri"/>
              </a:defRPr>
            </a:pPr>
            <a:r>
              <a:t>✓  Community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alibri"/>
              </a:defRPr>
            </a:pPr>
            <a:r>
              <a:t>✓  Public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alibri"/>
              </a:defRPr>
            </a:pPr>
            <a:r>
              <a:t>✓  Job 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737360"/>
            <a:ext cx="2103120" cy="4389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79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5BF"/>
                </a:solidFill>
                <a:latin typeface="Calibri"/>
              </a:defRPr>
            </a:pPr>
            <a:r>
              <a:t>₹999/yr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alibri"/>
              </a:defRPr>
            </a:pPr>
            <a:r>
              <a:t>✓  All Member benefits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703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alibri"/>
              </a:defRPr>
            </a:pPr>
            <a:r>
              <a:t>✓  Internship 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4114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alibri"/>
              </a:defRPr>
            </a:pPr>
            <a:r>
              <a:t>✓  Campus program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737360"/>
            <a:ext cx="2103120" cy="438912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1737360"/>
            <a:ext cx="2103120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783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9A7"/>
                </a:solidFill>
                <a:latin typeface="Calibri"/>
              </a:defRPr>
            </a:pPr>
            <a:r>
              <a:t>MOST POPULAR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9A7"/>
                </a:solidFill>
                <a:latin typeface="Calibri"/>
              </a:defRPr>
            </a:pPr>
            <a:r>
              <a:t>₹2,499/yr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alibri"/>
              </a:defRPr>
            </a:pPr>
            <a:r>
              <a:t>✓  Workshops &amp; mentorship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703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alibri"/>
              </a:defRPr>
            </a:pPr>
            <a:r>
              <a:t>✓  Portfolio reviews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114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alibri"/>
              </a:defRPr>
            </a:pPr>
            <a:r>
              <a:t>✓  Exclusive content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59" y="1737360"/>
            <a:ext cx="2103120" cy="4389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19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  <a:latin typeface="Calibri"/>
              </a:defRPr>
            </a:pPr>
            <a:r>
              <a:t>₹4,999/yr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39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alibri"/>
              </a:defRPr>
            </a:pPr>
            <a:r>
              <a:t>✓  Conference discounts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39" y="3703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alibri"/>
              </a:defRPr>
            </a:pPr>
            <a:r>
              <a:t>✓  1:1 mentorship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39" y="4114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alibri"/>
              </a:defRPr>
            </a:pPr>
            <a:r>
              <a:t>✓  Salary insights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1737360"/>
            <a:ext cx="2103120" cy="4389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Leader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  <a:latin typeface="Calibri"/>
              </a:defRPr>
            </a:pPr>
            <a:r>
              <a:t>₹9,999/yr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59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alibri"/>
              </a:defRPr>
            </a:pPr>
            <a:r>
              <a:t>✓  Leader roundtables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59" y="3703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alibri"/>
              </a:defRPr>
            </a:pPr>
            <a:r>
              <a:t>✓  Hiring network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59" y="4114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Calibri"/>
              </a:defRPr>
            </a:pPr>
            <a:r>
              <a:t>✓  Speaking slots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Projected Revenue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Revenue 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10698480" cy="6400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54864" cy="6400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042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Membership Dues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3042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EC0"/>
                </a:solidFill>
                <a:latin typeface="Calibri"/>
              </a:defRPr>
            </a:pPr>
            <a:r>
              <a:t>₹25L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3042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9A7"/>
                </a:solidFill>
                <a:latin typeface="Calibri"/>
              </a:defRPr>
            </a:pPr>
            <a:r>
              <a:t>₹2Cr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71800"/>
            <a:ext cx="10698480" cy="6400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54864" cy="64008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0815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Event Tickets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815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EC0"/>
                </a:solidFill>
                <a:latin typeface="Calibri"/>
              </a:defRPr>
            </a:pPr>
            <a:r>
              <a:t>₹15L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0815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5BF"/>
                </a:solidFill>
                <a:latin typeface="Calibri"/>
              </a:defRPr>
            </a:pPr>
            <a:r>
              <a:t>₹1.5Cr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49039"/>
            <a:ext cx="10698480" cy="6400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749039"/>
            <a:ext cx="54864" cy="6400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8587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Corporate Partners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8587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EC0"/>
                </a:solidFill>
                <a:latin typeface="Calibri"/>
              </a:defRPr>
            </a:pPr>
            <a:r>
              <a:t>₹20L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8587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42"/>
                </a:solidFill>
                <a:latin typeface="Calibri"/>
              </a:defRPr>
            </a:pPr>
            <a:r>
              <a:t>₹3Cr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526279"/>
            <a:ext cx="10698480" cy="6400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526279"/>
            <a:ext cx="54864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636007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Job 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63600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EC0"/>
                </a:solidFill>
                <a:latin typeface="Calibri"/>
              </a:defRPr>
            </a:pPr>
            <a:r>
              <a:t>₹5L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63600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6B"/>
                </a:solidFill>
                <a:latin typeface="Calibri"/>
              </a:defRPr>
            </a:pPr>
            <a:r>
              <a:t>₹75L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303520"/>
            <a:ext cx="10698480" cy="6400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303520"/>
            <a:ext cx="54864" cy="64008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4132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Digital Products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5413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EC0"/>
                </a:solidFill>
                <a:latin typeface="Calibri"/>
              </a:defRPr>
            </a:pPr>
            <a:r>
              <a:t>₹5L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413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AEC0"/>
                </a:solidFill>
                <a:latin typeface="Calibri"/>
              </a:defRPr>
            </a:pPr>
            <a:r>
              <a:t>₹1Cr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6126480"/>
            <a:ext cx="1069848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TOTAL PROJECTED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5669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0AEC0"/>
                </a:solidFill>
                <a:latin typeface="Calibri"/>
              </a:defRPr>
            </a:pPr>
            <a:r>
              <a:t>₹70L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5669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9A7"/>
                </a:solidFill>
                <a:latin typeface="Calibri"/>
              </a:defRPr>
            </a:pPr>
            <a:r>
              <a:t>₹8.25Cr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GROWTH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India to Global in 5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2148840" cy="4389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214884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Months 1-6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1K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9184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Bangalore + Mumbai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49039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Core team, platform 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0624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10 events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79" y="1737360"/>
            <a:ext cx="2148840" cy="4389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79" y="1737360"/>
            <a:ext cx="2148840" cy="54864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19202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5BF"/>
                </a:solidFill>
                <a:latin typeface="Calibri"/>
              </a:defRPr>
            </a:pPr>
            <a:r>
              <a:t>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2402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Months 6-12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6517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5K Members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9" y="329184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Add Delhi, Pune, Hyderabad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3749039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Membership tiers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39" y="420624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₹30L revenue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737360"/>
            <a:ext cx="2148840" cy="4389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1737360"/>
            <a:ext cx="214884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19202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42"/>
                </a:solidFill>
                <a:latin typeface="Calibri"/>
              </a:defRPr>
            </a:pPr>
            <a:r>
              <a:t>SCALE INDIA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2402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6517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20K Members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329184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8-10 cities, Tier-2 entry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3749039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1st national conference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420624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₹2Cr revenue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19" y="1737360"/>
            <a:ext cx="2148840" cy="4389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60919" y="1737360"/>
            <a:ext cx="21488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59" y="19202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REGIONAL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59" y="22402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59" y="26517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50K Members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29184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Singapore, Dubai expansion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3749039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International chapters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420624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₹8Cr revenue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92640" y="1737360"/>
            <a:ext cx="2148840" cy="4389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92640" y="1737360"/>
            <a:ext cx="214884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19202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GLOBAL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22402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Year 4-5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26517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100K+ Members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800" y="329184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10+ countries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800" y="3749039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"AIGA of Asia"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420624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Calibri"/>
              </a:defRPr>
            </a:pPr>
            <a:r>
              <a:t>Global brand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Unfair Advantages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5349240" cy="960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54864" cy="9601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Tool Agnostic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Not locked to Figma, Adobe, or any tool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691640"/>
            <a:ext cx="5349240" cy="960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691640"/>
            <a:ext cx="54864" cy="96012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Year-Round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48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Weekly content + monthly meetups + annual conference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34640"/>
            <a:ext cx="5349240" cy="960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834640"/>
            <a:ext cx="54864" cy="9601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926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Career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291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Job placement, salary data, structured mentorship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834640"/>
            <a:ext cx="5349240" cy="960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834640"/>
            <a:ext cx="54864" cy="960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926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India-Specific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91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Local case studies, INR benchmarks, Indian context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977639"/>
            <a:ext cx="5349240" cy="960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977639"/>
            <a:ext cx="54864" cy="9601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0690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Tier-2 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434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10+ cities including emerging design hubs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3977639"/>
            <a:ext cx="5349240" cy="960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3977639"/>
            <a:ext cx="54864" cy="96012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0690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Hybrid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434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Seamless online platform + offline events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120640"/>
            <a:ext cx="5349240" cy="960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120640"/>
            <a:ext cx="54864" cy="9601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2120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Student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577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Campus programs, internship board, student tier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5120640"/>
            <a:ext cx="5349240" cy="96012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55080" y="5120640"/>
            <a:ext cx="54864" cy="960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52120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Sustainable Revenue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577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Diversified: memberships + events + partners + products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t>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Top 5 Immediate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698480" cy="8686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874520"/>
            <a:ext cx="502920" cy="50292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83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Launch Bangalore + Mumbai simultaneously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671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Dual-city launch signals national ambition from day 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10698480" cy="8686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880360"/>
            <a:ext cx="502920" cy="50292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88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Build online platform before first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1729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The platform is your always-on home 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03320"/>
            <a:ext cx="10698480" cy="8686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3886200"/>
            <a:ext cx="502920" cy="50292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94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Hire full-time community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78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Professional operations ensure consistency and quality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09160"/>
            <a:ext cx="10698480" cy="8686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4892040"/>
            <a:ext cx="502920" cy="50292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00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Secure 2-3 founding corporate partners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1846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Credibility, funding, and member benefits from day 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715000"/>
            <a:ext cx="10698480" cy="868680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897880"/>
            <a:ext cx="502920" cy="50292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806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Create a signature event format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61904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Own a format people associate with your brand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LET'S BUILD INDIA'S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C9A7"/>
                </a:solidFill>
                <a:latin typeface="Calibri"/>
              </a:defRPr>
            </a:pPr>
            <a:r>
              <a:t>DESIGN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EC0"/>
                </a:solidFill>
                <a:latin typeface="Calibri"/>
              </a:defRPr>
            </a:pPr>
            <a:r>
              <a:t>"The community that grows with you — from your first portfolio to your leadership role."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846320"/>
            <a:ext cx="393192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RPS Design Community |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C9A7"/>
                </a:solidFill>
                <a:latin typeface="Calibri"/>
              </a:defRPr>
            </a:pPr>
            <a:r>
              <a:t>vivin@rockpaperscissors.studio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